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85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title and the one-line framing: this dissertation set out to benchmark causal vs. associational models on Parkinson's voice data, and along the way discovered and characterised a real limitation of the method when applied to this kind of clinical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motivation points. Land on the original scope box: this is the original brief for this dissertation, extending Little &amp; Badawy's causal bootstrapping method. Keep this slide fast, under a minute if presenting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core idea in plain terms before the maths: resample so rare confounder-outcome combinations get boosted and common ones suppressed, mimicking randomisation. Then show the two algorithms side by side: back-door applies when the confounder is measured directly, our case, age and sex. Front-door applies when the confounder is unmeasured but a mediator is observed. State plainly why back-door fits: age and sex are pre-existing facts, not mediators sitting on the causal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problem slide. Walk through the toy table first: real ages from the data, several age-sex combinations have zero subjects. Explain why that matters mathematically: the algorithm needs to divide by how common a combination is, and dividing by zero sends the weight to infinity. Then point at the R-squared swing on the right as independent, striking evidence of the same underlying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formal causal graph. Age, sex, and identity all confound the relationship between severity and voice features. Given this graph, age and sex satisfy the back-door criterion, so the algorithm from the previous slide applies to them. Identity is flagged as structurally different, it cannot be estimated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both methods side by side. Method 1 sacrifices granularity but is mathematically clean. Method 2 keeps everything but relies on more elaborate density estimation. Both directly address the support-hole problem identified two slides 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table row by row, then explain the mixed-effects finding, which is why neither method shows a strong, consistent effect, there wasn't much genuine bias to remove in the first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stating the actual contribution plainly: this is a genuine extension of the method to data it was never tested on, not a simple replication. Identity remains a structural limit, not a solved problem. Mention subject-level fixed effects as the way to fully solve it, and why it wasn't pursued.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thanking the panel and inviting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4572000" cy="4572000"/>
          </a:xfrm>
          <a:prstGeom prst="ellipse">
            <a:avLst/>
          </a:prstGeom>
          <a:solidFill>
            <a:srgbClr val="0F6E5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-457200"/>
            <a:ext cx="2743200" cy="2743200"/>
          </a:xfrm>
          <a:prstGeom prst="ellipse">
            <a:avLst/>
          </a:prstGeom>
          <a:solidFill>
            <a:srgbClr val="D85A30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Addressing Identity Confounding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Causal Bootstrapping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Study on Parkinson's Voice-Based UPDRS Prediction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Akhtar   ·   MSc Data Science Dissertation Demonstration   ·   14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original research question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tracking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Parkinson's is progressive; UPDRS, the clinical gold-standard rating, requires an in-person exam, so a low-burden, voice-based proxy has real clinical value.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Associational models can cheat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514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flexible model can learn shortcuts, like recognising a patient's own voice, instead of genuine disease signal, inflating reported accuracy on held-out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1546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bootstrapping's promise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4747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&amp; Badawy (2019): reweight observational data via inverse-propensity weighting, so an ordinary ML model, trained on it, reflects a causally-adjusted, not merely correlational, relationship.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2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Parkinson's Telemonitoring, 5,875 voice recordings from 42 patients over 6 months (Tsanas et al., 2010).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48920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scope:  </a:t>
            </a:r>
            <a:r>
              <a:rPr lang="en-US" sz="1500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causal bootstrapping against a standard associational model, adjusting for age and sex, predicting Parkinson's progression (UPDRS) from voice.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Method: causal bootstrapping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105156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idea:  </a:t>
            </a: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observational data so a candidate's chance of being chosen ≈ closeness of outcome ÷ how expected that outcome was, given the candidate's own confounder value. It mimics what randomisation would have produced.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Back-door (chosen)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flipH="1">
            <a:off x="2377440" y="3268980"/>
            <a:ext cx="822960" cy="59436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0" y="3268980"/>
            <a:ext cx="822960" cy="59436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697480" y="4114800"/>
            <a:ext cx="1005840" cy="0"/>
          </a:xfrm>
          <a:prstGeom prst="line">
            <a:avLst/>
          </a:prstGeom>
          <a:noFill/>
          <a:ln w="25400">
            <a:solidFill>
              <a:srgbClr val="0F6E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80360" y="276606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0360" y="27660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057400" y="386334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57400" y="38633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703320" y="386334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03320" y="38633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measured directly (age, sex)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Front-door (not used)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 flipH="1">
            <a:off x="7863840" y="3268980"/>
            <a:ext cx="1097280" cy="59436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61120" y="3268980"/>
            <a:ext cx="1097280" cy="59436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83880" y="4114800"/>
            <a:ext cx="45720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81160" y="4114800"/>
            <a:ext cx="45720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41080" y="276606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D85A30"/>
          </a:solidFill>
          <a:ln w="6350">
            <a:solidFill>
              <a:srgbClr val="D85A3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41080" y="27660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543800" y="386334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43800" y="38633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641080" y="386334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41080" y="38633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738360" y="386334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738360" y="38633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0" y="4526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unmeasured; Z carries the effect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60120" y="507492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sex are directly measured, pre-existing facts about a person, not mediators. </a:t>
            </a:r>
            <a:r>
              <a:rPr lang="en-US" sz="1400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matches the back-door structure exactly.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identity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42 subjects contributes ~140 near-identical recordings, locking age and sex to identity. A sample of real ages from the data shows how sparse coverage becomes: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6035040" cy="21488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subjects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subjects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40080" y="416052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these 12 age×sex cells are empty. </a:t>
            </a: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p̂(y|age,sex) means dividing by zero for many combinations, so the back-door algorithm's weights approach infinity, making it inapplicable as specified.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086600" y="1188720"/>
            <a:ext cx="4434840" cy="4709160"/>
          </a:xfrm>
          <a:prstGeom prst="roundRect">
            <a:avLst>
              <a:gd name="adj" fmla="val 2887"/>
            </a:avLst>
          </a:prstGeom>
          <a:solidFill>
            <a:srgbClr val="0D3B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406640" y="1463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model. Same data.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data split changed.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06640" y="21488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+0.087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406640" y="2788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random split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961120" y="3200400"/>
            <a:ext cx="457200" cy="411480"/>
          </a:xfrm>
          <a:prstGeom prst="downArrow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06640" y="3657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–0.035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40664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subject-grouped split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06640" y="4892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looked like it worked, was mostly recognising people.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06640" y="5440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(Method 2's associational baseline, detailed in Results)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causal graph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017520" y="2034540"/>
            <a:ext cx="1097280" cy="132588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17520" y="2034540"/>
            <a:ext cx="5029200" cy="132588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H="1">
            <a:off x="4114800" y="2034540"/>
            <a:ext cx="1965960" cy="132588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80760" y="2034540"/>
            <a:ext cx="1965960" cy="132588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H="1">
            <a:off x="4114800" y="2034540"/>
            <a:ext cx="5029200" cy="132588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8046720" y="2034540"/>
            <a:ext cx="1097280" cy="132588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26280" y="3657600"/>
            <a:ext cx="3108960" cy="0"/>
          </a:xfrm>
          <a:prstGeom prst="line">
            <a:avLst/>
          </a:prstGeom>
          <a:noFill/>
          <a:ln w="31750">
            <a:solidFill>
              <a:srgbClr val="0F6E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1440180"/>
            <a:ext cx="822960" cy="594360"/>
          </a:xfrm>
          <a:prstGeom prst="roundRect">
            <a:avLst>
              <a:gd name="adj" fmla="val 12308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4401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0" y="1440180"/>
            <a:ext cx="822960" cy="594360"/>
          </a:xfrm>
          <a:prstGeom prst="roundRect">
            <a:avLst>
              <a:gd name="adj" fmla="val 12308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0" y="14401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732520" y="1440180"/>
            <a:ext cx="822960" cy="594360"/>
          </a:xfrm>
          <a:prstGeom prst="roundRect">
            <a:avLst>
              <a:gd name="adj" fmla="val 12308"/>
            </a:avLst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14401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703320" y="3360420"/>
            <a:ext cx="822960" cy="594360"/>
          </a:xfrm>
          <a:prstGeom prst="roundRect">
            <a:avLst>
              <a:gd name="adj" fmla="val 12308"/>
            </a:avLst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03320" y="33604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35240" y="3360420"/>
            <a:ext cx="822960" cy="594360"/>
          </a:xfrm>
          <a:prstGeom prst="roundRect">
            <a:avLst>
              <a:gd name="adj" fmla="val 12308"/>
            </a:avLst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35240" y="33604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age   ·   G = sex   ·   I = identity   ·   U = disease severity (UPDRS)   ·   X = voice features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F1E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0120" y="4892040"/>
            <a:ext cx="10241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G 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pre-existing, directly measured facts, not mediators, so back-door adjustment applies (Methods 1–2, next).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structurally different: its weights would need multiple people sharing an identity value, which never occurs, so it cannot be adjusted this way.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Filling the support holes: two approaches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4480560"/>
          </a:xfrm>
          <a:prstGeom prst="roundRect">
            <a:avLst>
              <a:gd name="adj" fmla="val 2857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0120" y="1600200"/>
            <a:ext cx="4617720" cy="502920"/>
          </a:xfrm>
          <a:prstGeom prst="roundRect">
            <a:avLst>
              <a:gd name="adj" fmla="val 14545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6002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subject aggregation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5,875 recordings → 42 subject rows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sex genuinely vary across independent people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35584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support holes by construction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92277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loses within-subject detail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489704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Evaluated: leave-one-out (N=42)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280160"/>
            <a:ext cx="5257800" cy="4480560"/>
          </a:xfrm>
          <a:prstGeom prst="roundRect">
            <a:avLst>
              <a:gd name="adj" fmla="val 2857"/>
            </a:avLst>
          </a:prstGeom>
          <a:solidFill>
            <a:srgbClr val="FAE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4617720" cy="502920"/>
          </a:xfrm>
          <a:prstGeom prst="roundRect">
            <a:avLst>
              <a:gd name="adj" fmla="val 14545"/>
            </a:avLst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0" y="16002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joint distribution modelling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2402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5,875 recordings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7889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treated as a soft, uncertain quantity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335584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support holes via joint KDE + Bayes' rule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92277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more estimation noise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4489704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Evaluated: subject-grouped 5-fold CV, plus a random-split diagnostic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interpretation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19202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Causal bootstrap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1 (N=42)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7.05, R² –0.056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6.96, R² –0.046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2 (N=5,875)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Subject-grouped 5-fold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7.09, R² –0.035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7.26, R² –0.072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2 (diagnostic)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5-fold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6.60, R² +0.087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6.69, R² +0.065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429000"/>
            <a:ext cx="10881360" cy="2514600"/>
          </a:xfrm>
          <a:prstGeom prst="roundRect">
            <a:avLst>
              <a:gd name="adj" fmla="val 4364"/>
            </a:avLst>
          </a:prstGeom>
          <a:solidFill>
            <a:srgbClr val="F1E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60120" y="3566160"/>
            <a:ext cx="102412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mixed direction makes sense: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properly specified mixed-effects model, testing whether sex or age significantly associates with any of the 16 voice features, found 0 of 16 significant.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little genuine confounding bias to remove, Method 1's simpler correction helped slightly; Method 2's more elaborate joint density estimation likely added noise rather than removing bias.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random-vs-grouped diagnostic (bottom row) independently confirms severe identity confounding remains, directly replicating Little (2017)'s own argument.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60120" y="55321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figures are averaged over 10 resampling seeds; Method 2 reflects a single run given the ~20-minute computation cost per run.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limitations &amp;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144475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184708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extension of Algorithm 1 to longitudinal, per-subject clinical data it was never tested on, with two alternative approaches honestly benchmarked against a standard model.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304495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a genuine structural limit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44728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fixable within back-door bootstrapping: its weights need multiple people sharing a confounder value, and identity, by definition, never allows that.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4805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464515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subject-level fixed effects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504748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fully resolve identity confounding, but only by reframing the question toward within-subject change, since age shows zero within-subject variation here. That trade-off, not time pressure, is why it wasn't pursued.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4114800" cy="4114800"/>
          </a:xfrm>
          <a:prstGeom prst="ellipse">
            <a:avLst/>
          </a:prstGeom>
          <a:solidFill>
            <a:srgbClr val="0F6E56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Tsanas, A., Little, M.A., McSharry, P.E., &amp; Ramig, L.O. (2010). Accurate telemonitoring of Parkinson's disease progression by noninvasive speech tests. IEEE Transactions on Biomedical Engineering, 57(4), 884–893.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Little, M.A., &amp; Badawy, R. (2019). Causal bootstrapping. arXiv preprint arXiv:1910.09648.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Little, M.A., Varoquaux, G., Saeb, S., Lonini, L., Jayaraman, A., Mohr, D.C., &amp; Kording, K.P. (2017). Using and understanding cross-validation strategies. Perspectives on Saeb et al. GigaScience, 6(5), gix020.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0881360" cy="0"/>
          </a:xfrm>
          <a:prstGeom prst="line">
            <a:avLst/>
          </a:prstGeom>
          <a:noFill/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892980-7204-4caa-be4b-74d58eecebec}" enabled="1" method="Standard" siteId="{4b4cca9c-edaf-42f3-8e21-9070c5d9d76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1485</Words>
  <Application>Microsoft Macintosh PowerPoint</Application>
  <PresentationFormat>Widescreen</PresentationFormat>
  <Paragraphs>140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Fatima Akhtar</cp:lastModifiedBy>
  <cp:revision>1</cp:revision>
  <dcterms:created xsi:type="dcterms:W3CDTF">2026-08-14T14:18:59Z</dcterms:created>
  <dcterms:modified xsi:type="dcterms:W3CDTF">2026-08-14T14:27:13Z</dcterms:modified>
</cp:coreProperties>
</file>