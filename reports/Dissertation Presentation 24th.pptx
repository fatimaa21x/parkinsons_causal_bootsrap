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14"/>
    <p:restoredTop sz="94676"/>
  </p:normalViewPr>
  <p:slideViewPr>
    <p:cSldViewPr snapToGrid="0">
      <p:cViewPr varScale="1">
        <p:scale>
          <a:sx n="114" d="100"/>
          <a:sy n="114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7AF4A7-2101-284E-AEAE-FD46C66CA4EB}" type="datetimeFigureOut">
              <a:rPr lang="en-US" smtClean="0"/>
              <a:t>8/1/26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D36C4F-DC51-F84C-BADD-1B4E18259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398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My dissertation is investigating causak bootstrapping using the UCI Parkinson’s Telemonitoring dataset. The project originally began as a comparison between causal and standard associational modelling, but EDA and discussions have highlighted a potentially important issue regarding subject confounding.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36C4F-DC51-F84C-BADD-1B4E182599C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640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My inital question was wether causal bootstrapping could provide advantages over a standard predictive approach when modelling the relationship between Parkinson’s severity and voice measurements. At this stage I was treating age and sex as the primary confounders.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36C4F-DC51-F84C-BADD-1B4E182599C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043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Dataset contains nearly 6,000 recordings collected from only 42 patients over a 6 month period.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36C4F-DC51-F84C-BADD-1B4E182599C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359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0B316-52CC-1459-40F2-A798CF54B3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F9F119-AF88-23E9-36A9-20984A2BC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047B2-BB0D-2883-4482-80DD7A0AB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ED8C-273F-B74F-9033-E689CF49801C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B77A4-F9A0-9F19-4E76-C45A7E500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98C3C3-446E-F52B-FAAD-F532D446F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5EE1-75E2-F744-B279-6D1947E46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9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AA22B-44F5-D35B-D0FB-3E670F4B3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E1ABE-A5D9-BC89-D7F3-F9EC3C87C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7C302-FC4B-FEA7-5BE3-314AAEC3E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ED8C-273F-B74F-9033-E689CF49801C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2A9DC-BA8A-F4FD-6BCC-0C0E5A08C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9F092-F217-E452-A310-35591D881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5EE1-75E2-F744-B279-6D1947E46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182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EFD85-26AD-418F-2563-5F7A78DD2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A185E-16D9-6352-97B4-56594337D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06FE7-A744-E1BC-FEFB-F0F280291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ED8C-273F-B74F-9033-E689CF49801C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BE4DE-B8C6-7C2B-68EF-34D063B0B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A0219-AA32-C14E-A5DB-FA7CB1C37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5EE1-75E2-F744-B279-6D1947E46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84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C4D82-B5F8-5D3F-3B81-386AB0EE1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5B3F9-DDDB-342D-7BAB-62DD99B37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47FFD5-925A-63F5-F3FD-0D14E1A8A6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56476A-0B5A-8805-A568-5C75DC4E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ED8C-273F-B74F-9033-E689CF49801C}" type="datetimeFigureOut">
              <a:rPr lang="en-US" smtClean="0"/>
              <a:t>8/1/26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408641-D862-BF27-EBC7-ABD28E717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08FD1B-AEDD-7EEE-923B-E71FE859B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5EE1-75E2-F744-B279-6D1947E46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651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4EA78-65F3-293C-1FCE-A12D31D69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297140-3379-92E5-5A0D-D6F1FC0F1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4DAC17-996B-E03C-487A-9D8D9F3777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044636-B365-09DF-D9D5-4791D5319C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7169AC-0224-CA58-8AA1-DF244F2E32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4AA2CC-F579-38E3-D012-2E5F2B2A1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ED8C-273F-B74F-9033-E689CF49801C}" type="datetimeFigureOut">
              <a:rPr lang="en-US" smtClean="0"/>
              <a:t>8/1/26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D651B3-A73D-A0B3-D87E-4226A4DD4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6B5BEB-1353-0C96-5FDE-359BC878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5EE1-75E2-F744-B279-6D1947E46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815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52DAA-07CA-22B4-65DE-71EC4F62C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5E517A-00AE-BBA1-41B1-F3F4AB2C9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ED8C-273F-B74F-9033-E689CF49801C}" type="datetimeFigureOut">
              <a:rPr lang="en-US" smtClean="0"/>
              <a:t>8/1/26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7ED64-3EE1-7B2C-CD31-C9639BE96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9B3EEB-E66A-C178-D52F-4B0297981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5EE1-75E2-F744-B279-6D1947E46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50E40F-A990-FEA7-5A60-D66854718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ED8C-273F-B74F-9033-E689CF49801C}" type="datetimeFigureOut">
              <a:rPr lang="en-US" smtClean="0"/>
              <a:t>8/1/26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0D2DCD-D1B3-6448-CDCA-7D9582F4F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8425A-5D95-FBC0-8C5D-C6AE625BA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5EE1-75E2-F744-B279-6D1947E46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785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AC8E2-86EA-D63A-1BB4-C69D96DC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F62FE-A306-C80F-FDDC-ACFAD5B53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AD04C9-EF52-3F8F-4654-86649C2D07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F0998C-D6FC-CB4A-51C1-A5BF0E329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ED8C-273F-B74F-9033-E689CF49801C}" type="datetimeFigureOut">
              <a:rPr lang="en-US" smtClean="0"/>
              <a:t>8/1/26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F6536F-5709-08A4-A923-7B88348A4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CED9D0-C4CB-1769-E4E6-B865FBAAD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5EE1-75E2-F744-B279-6D1947E46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409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0A860-01FC-8A6B-BB26-4B9BE82E7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88D21C-78A9-F7E5-793F-34C2A3D596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8BF04D-B6C8-5DC4-38D4-BCA2DB9CEE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D0F501-3C16-284A-FA59-911CA172C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ED8C-273F-B74F-9033-E689CF49801C}" type="datetimeFigureOut">
              <a:rPr lang="en-US" smtClean="0"/>
              <a:t>8/1/26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DE69B-9A64-5F8E-91E4-66D729150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799CC-3479-CEFC-74DF-0D7B9EC93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5EE1-75E2-F744-B279-6D1947E46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658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ADC61-56A6-ABA3-1242-A6E790D63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FB6655-771E-5CD4-529D-2A1F18B32F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1E597-B286-3D3A-1BC6-28E5F6209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ED8C-273F-B74F-9033-E689CF49801C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E9988-5DDB-F65D-F07A-79DC03441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079D7-F47B-6CD5-287B-0404497A6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5EE1-75E2-F744-B279-6D1947E46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599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E9D96B-EAB8-2763-E893-B3BDF03FF1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03D130-BB60-F3DE-986C-4090825860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51EA8-7EEF-D231-BE3D-A556A4F07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ED8C-273F-B74F-9033-E689CF49801C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78A83-E231-F4AA-E734-8EC1D1C1F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AF735-D5D3-5BCF-5D04-DCBDCB0BD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5EE1-75E2-F744-B279-6D1947E46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327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757413-6495-7EE7-E37A-42DE2B93A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1854E-9D79-BAF9-64D9-1517235FE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91F0A-FC42-8B01-E2A5-C180F08AC2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C2ED8C-273F-B74F-9033-E689CF49801C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336EF-21CF-C6B8-6E0E-CFF0EAF6F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9FF05-9D71-8428-8DDC-9244F99D6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2E5EE1-75E2-F744-B279-6D1947E46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11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45FE1-DA20-CFB7-AA5C-937EB67B32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Investigating Causal Bootstrapping for Parkinson’s Telemonitoring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5F8B67-EA6F-094F-5852-7BE5239F93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Understanding the impact of subject-level confounding on causal inference</a:t>
            </a:r>
          </a:p>
        </p:txBody>
      </p:sp>
    </p:spTree>
    <p:extLst>
      <p:ext uri="{BB962C8B-B14F-4D97-AF65-F5344CB8AC3E}">
        <p14:creationId xmlns:p14="http://schemas.microsoft.com/office/powerpoint/2010/main" val="4097540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F7323-90C4-658A-2534-A73524A7E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Original Aim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A454C-AB87-F148-7244-0A7AC2ADB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/>
              <a:t>Initial question:</a:t>
            </a:r>
            <a:br>
              <a:rPr lang="en-US"/>
            </a:br>
            <a:br>
              <a:rPr lang="en-US"/>
            </a:br>
            <a:r>
              <a:rPr lang="en-US"/>
              <a:t>Can causal bootsrapping provide advantages over a standard associational model when modelling the relationship between Parkinson’s severity and voice measurements?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Initial plan:</a:t>
            </a:r>
          </a:p>
          <a:p>
            <a:pPr>
              <a:buFontTx/>
              <a:buChar char="-"/>
            </a:pPr>
            <a:r>
              <a:rPr lang="en-US"/>
              <a:t>Adjust for age and sex confounding</a:t>
            </a:r>
          </a:p>
          <a:p>
            <a:pPr>
              <a:buFontTx/>
              <a:buChar char="-"/>
            </a:pPr>
            <a:r>
              <a:rPr lang="en-US"/>
              <a:t>Apply causal bootstrapping</a:t>
            </a:r>
          </a:p>
          <a:p>
            <a:pPr>
              <a:buFontTx/>
              <a:buChar char="-"/>
            </a:pPr>
            <a:r>
              <a:rPr lang="en-US"/>
              <a:t>Compare against a standard associational model</a:t>
            </a:r>
          </a:p>
        </p:txBody>
      </p:sp>
    </p:spTree>
    <p:extLst>
      <p:ext uri="{BB962C8B-B14F-4D97-AF65-F5344CB8AC3E}">
        <p14:creationId xmlns:p14="http://schemas.microsoft.com/office/powerpoint/2010/main" val="3634310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10604-242D-0C58-F6C4-6844AC095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Dataset: UCI Parkinson’s Telemonitoring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50833-6F0F-15EF-FC9E-7D958C6C8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2239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/>
              <a:t>Shape: 5875 recordings, 22 features</a:t>
            </a:r>
          </a:p>
          <a:p>
            <a:r>
              <a:rPr lang="en-US" sz="2400"/>
              <a:t>Voice Features:</a:t>
            </a:r>
          </a:p>
          <a:p>
            <a:pPr lvl="1"/>
            <a:r>
              <a:rPr lang="en-US" sz="2000"/>
              <a:t>16 voice features recorded over a 6 month period</a:t>
            </a:r>
          </a:p>
          <a:p>
            <a:r>
              <a:rPr lang="en-US" sz="2400"/>
              <a:t>42 Parkinson’s patients</a:t>
            </a:r>
          </a:p>
          <a:p>
            <a:pPr lvl="1"/>
            <a:r>
              <a:rPr lang="en-US" sz="2000"/>
              <a:t>28 Males, 14 Females</a:t>
            </a:r>
          </a:p>
          <a:p>
            <a:pPr lvl="1"/>
            <a:r>
              <a:rPr lang="en-US" sz="2000"/>
              <a:t>Age range: 36-85</a:t>
            </a:r>
          </a:p>
          <a:p>
            <a:pPr lvl="1"/>
            <a:r>
              <a:rPr lang="en-US" sz="2000"/>
              <a:t>Recordings per subject: mean 140, std 15.5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45A1BE-8780-D6E3-9A2A-E930284BA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4458489"/>
            <a:ext cx="7772400" cy="2034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811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4D35C-91F3-FA38-E800-5DFC1C94E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Initial Causal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65588-3FD5-912D-EE32-B6E9EEBB7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Age </a:t>
            </a:r>
            <a:r>
              <a:rPr lang="en-US">
                <a:sym typeface="Wingdings" pitchFamily="2" charset="2"/>
              </a:rPr>
              <a:t> UPDRS </a:t>
            </a:r>
          </a:p>
          <a:p>
            <a:r>
              <a:rPr lang="en-US">
                <a:sym typeface="Wingdings" pitchFamily="2" charset="2"/>
              </a:rPr>
              <a:t>Age  Voice</a:t>
            </a:r>
          </a:p>
          <a:p>
            <a:r>
              <a:rPr lang="en-US">
                <a:sym typeface="Wingdings" pitchFamily="2" charset="2"/>
              </a:rPr>
              <a:t>Sex  UPDRS </a:t>
            </a:r>
          </a:p>
          <a:p>
            <a:r>
              <a:rPr lang="en-US">
                <a:sym typeface="Wingdings" pitchFamily="2" charset="2"/>
              </a:rPr>
              <a:t>Sex  Voice</a:t>
            </a:r>
          </a:p>
          <a:p>
            <a:r>
              <a:rPr lang="en-US">
                <a:sym typeface="Wingdings" pitchFamily="2" charset="2"/>
              </a:rPr>
              <a:t>UPDRS  Voice</a:t>
            </a:r>
          </a:p>
          <a:p>
            <a:endParaRPr lang="en-US">
              <a:sym typeface="Wingdings" pitchFamily="2" charset="2"/>
            </a:endParaRPr>
          </a:p>
          <a:p>
            <a:r>
              <a:rPr lang="en-US">
                <a:sym typeface="Wingdings" pitchFamily="2" charset="2"/>
              </a:rPr>
              <a:t>Assumptions:</a:t>
            </a:r>
          </a:p>
          <a:p>
            <a:r>
              <a:rPr lang="en-US">
                <a:sym typeface="Wingdings" pitchFamily="2" charset="2"/>
              </a:rPr>
              <a:t>Age affects both disease severity and voice</a:t>
            </a:r>
          </a:p>
          <a:p>
            <a:r>
              <a:rPr lang="en-US">
                <a:sym typeface="Wingdings" pitchFamily="2" charset="2"/>
              </a:rPr>
              <a:t>Sex affects both disease severity and voice</a:t>
            </a:r>
          </a:p>
          <a:p>
            <a:r>
              <a:rPr lang="en-US">
                <a:sym typeface="Wingdings" pitchFamily="2" charset="2"/>
              </a:rPr>
              <a:t>Parkinson’s severity affects voice characteristics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788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50B73-53E4-04DD-9169-F006CE5C9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UPDRS Progression by Subject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D535C-4B92-C4A3-EE82-6D8A32A0E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29334" cy="4351338"/>
          </a:xfrm>
        </p:spPr>
        <p:txBody>
          <a:bodyPr/>
          <a:lstStyle/>
          <a:p>
            <a:r>
              <a:rPr lang="en-US"/>
              <a:t>Different baseline values</a:t>
            </a:r>
          </a:p>
          <a:p>
            <a:r>
              <a:rPr lang="en-US"/>
              <a:t>Different progression trajectories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58060E-4E47-D437-F691-063EB418F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534" y="2170906"/>
            <a:ext cx="6586266" cy="366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585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CA659-2907-1209-4B0C-04F3E68D7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Discovery: Identity as a confounder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02121-463E-509E-9F4C-6B8ED5730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sym typeface="Wingdings" pitchFamily="2" charset="2"/>
              </a:rPr>
              <a:t>Identity  UPDRS </a:t>
            </a:r>
          </a:p>
          <a:p>
            <a:pPr lvl="1"/>
            <a:r>
              <a:rPr lang="en-US">
                <a:sym typeface="Wingdings" pitchFamily="2" charset="2"/>
              </a:rPr>
              <a:t>Each subject has unique disease progression trajectory</a:t>
            </a:r>
            <a:endParaRPr lang="en-US"/>
          </a:p>
          <a:p>
            <a:r>
              <a:rPr lang="en-US"/>
              <a:t>Identity </a:t>
            </a:r>
            <a:r>
              <a:rPr lang="en-US">
                <a:sym typeface="Wingdings" pitchFamily="2" charset="2"/>
              </a:rPr>
              <a:t> Voice </a:t>
            </a:r>
          </a:p>
          <a:p>
            <a:pPr lvl="1"/>
            <a:r>
              <a:rPr lang="en-US">
                <a:sym typeface="Wingdings" pitchFamily="2" charset="2"/>
              </a:rPr>
              <a:t>Each subject has unique voice characteristics</a:t>
            </a:r>
          </a:p>
          <a:p>
            <a:endParaRPr lang="en-US">
              <a:sym typeface="Wingdings" pitchFamily="2" charset="2"/>
            </a:endParaRPr>
          </a:p>
          <a:p>
            <a:r>
              <a:rPr lang="en-US">
                <a:sym typeface="Wingdings" pitchFamily="2" charset="2"/>
              </a:rPr>
              <a:t>Age and Sex are largely fixed within subjects.</a:t>
            </a:r>
          </a:p>
          <a:p>
            <a:endParaRPr lang="en-US">
              <a:sym typeface="Wingdings" pitchFamily="2" charset="2"/>
            </a:endParaRPr>
          </a:p>
          <a:p>
            <a:r>
              <a:rPr lang="en-US">
                <a:sym typeface="Wingdings" pitchFamily="2" charset="2"/>
              </a:rPr>
              <a:t>Thus identity may dominate the confounding structure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127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57001-D86E-87AA-8016-68220F558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Consequence of Strong Identity Confounding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8A203EC-0A66-9220-83F5-76580BB4F3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7080846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3272893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4268060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9837379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347868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/>
                        <a:t>Age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472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411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Subject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348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Subject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49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Subject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50203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5904EFA-B0CF-DB67-8C08-6A164A8B680B}"/>
              </a:ext>
            </a:extLst>
          </p:cNvPr>
          <p:cNvSpPr txBox="1"/>
          <p:nvPr/>
        </p:nvSpPr>
        <p:spPr>
          <a:xfrm>
            <a:off x="1014761" y="3947532"/>
            <a:ext cx="98911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Subjects only occur at their own 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Age and sex are largely fixed within subject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Many age-identity combinations never occur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Creates sparse support for causal bootstrapping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Potential remedy: Gaussian age smoothing to fill in support holes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249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4C5D3-193C-A599-7594-817B2C494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Revised Direction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9E6EE-A501-F198-9CD5-9A2E06950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/>
              <a:t>Updated Causal Graph:</a:t>
            </a:r>
          </a:p>
          <a:p>
            <a:endParaRPr lang="en-US"/>
          </a:p>
          <a:p>
            <a:r>
              <a:rPr lang="en-US"/>
              <a:t>Age </a:t>
            </a:r>
            <a:r>
              <a:rPr lang="en-US">
                <a:sym typeface="Wingdings" pitchFamily="2" charset="2"/>
              </a:rPr>
              <a:t> UPDRS</a:t>
            </a:r>
          </a:p>
          <a:p>
            <a:r>
              <a:rPr lang="en-US">
                <a:sym typeface="Wingdings" pitchFamily="2" charset="2"/>
              </a:rPr>
              <a:t>Age  Voice</a:t>
            </a:r>
          </a:p>
          <a:p>
            <a:r>
              <a:rPr lang="en-US">
                <a:sym typeface="Wingdings" pitchFamily="2" charset="2"/>
              </a:rPr>
              <a:t>Sex  UPDRS</a:t>
            </a:r>
          </a:p>
          <a:p>
            <a:r>
              <a:rPr lang="en-US">
                <a:sym typeface="Wingdings" pitchFamily="2" charset="2"/>
              </a:rPr>
              <a:t>Sex  Voice</a:t>
            </a:r>
          </a:p>
          <a:p>
            <a:r>
              <a:rPr lang="en-US">
                <a:sym typeface="Wingdings" pitchFamily="2" charset="2"/>
              </a:rPr>
              <a:t>Identity  UPDRS</a:t>
            </a:r>
          </a:p>
          <a:p>
            <a:r>
              <a:rPr lang="en-US">
                <a:sym typeface="Wingdings" pitchFamily="2" charset="2"/>
              </a:rPr>
              <a:t>Identity  Voice</a:t>
            </a:r>
          </a:p>
          <a:p>
            <a:r>
              <a:rPr lang="en-US">
                <a:sym typeface="Wingdings" pitchFamily="2" charset="2"/>
              </a:rPr>
              <a:t>UPDRS  Voice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0F052-99E9-E5D3-BDD0-A8DA9E24E5EE}"/>
              </a:ext>
            </a:extLst>
          </p:cNvPr>
          <p:cNvSpPr txBox="1"/>
          <p:nvPr/>
        </p:nvSpPr>
        <p:spPr>
          <a:xfrm>
            <a:off x="6096000" y="1825625"/>
            <a:ext cx="439729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Current RQ:</a:t>
            </a:r>
          </a:p>
          <a:p>
            <a:r>
              <a:rPr lang="en-US" sz="2800"/>
              <a:t>“Can causal bootstrapping be applied reliabily when subject identity creates support violations?</a:t>
            </a:r>
          </a:p>
        </p:txBody>
      </p:sp>
    </p:spTree>
    <p:extLst>
      <p:ext uri="{BB962C8B-B14F-4D97-AF65-F5344CB8AC3E}">
        <p14:creationId xmlns:p14="http://schemas.microsoft.com/office/powerpoint/2010/main" val="1955590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869E4-B98E-61F1-3255-B7973CB8C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14AC8-62D6-4EDE-9E14-43D19FC90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severe are the support violations?</a:t>
            </a:r>
          </a:p>
          <a:p>
            <a:r>
              <a:rPr lang="en-US" dirty="0"/>
              <a:t>Can gaussian age smoothing repair them?</a:t>
            </a:r>
          </a:p>
          <a:p>
            <a:r>
              <a:rPr lang="en-US" dirty="0"/>
              <a:t>Does this improve causal bootstrapping relative to a standard model?</a:t>
            </a:r>
          </a:p>
          <a:p>
            <a:endParaRPr lang="en-US" dirty="0"/>
          </a:p>
          <a:p>
            <a:r>
              <a:rPr lang="en-US" dirty="0"/>
              <a:t>Approaches:</a:t>
            </a:r>
          </a:p>
          <a:p>
            <a:r>
              <a:rPr lang="en-US" dirty="0"/>
              <a:t>Subject-level aggregation</a:t>
            </a:r>
          </a:p>
          <a:p>
            <a:r>
              <a:rPr lang="en-US"/>
              <a:t>Joint distribution</a:t>
            </a:r>
          </a:p>
        </p:txBody>
      </p:sp>
    </p:spTree>
    <p:extLst>
      <p:ext uri="{BB962C8B-B14F-4D97-AF65-F5344CB8AC3E}">
        <p14:creationId xmlns:p14="http://schemas.microsoft.com/office/powerpoint/2010/main" val="3675695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5892980-7204-4caa-be4b-74d58eecebec}" enabled="1" method="Privileged" siteId="{4b4cca9c-edaf-42f3-8e21-9070c5d9d76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10090</TotalTime>
  <Words>435</Words>
  <Application>Microsoft Macintosh PowerPoint</Application>
  <PresentationFormat>Widescreen</PresentationFormat>
  <Paragraphs>89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Wingdings</vt:lpstr>
      <vt:lpstr>Office Theme</vt:lpstr>
      <vt:lpstr>Investigating Causal Bootstrapping for Parkinson’s Telemonitoring Data</vt:lpstr>
      <vt:lpstr>Original Aim</vt:lpstr>
      <vt:lpstr>Dataset: UCI Parkinson’s Telemonitoring</vt:lpstr>
      <vt:lpstr>Initial Causal Graph</vt:lpstr>
      <vt:lpstr>UPDRS Progression by Subject</vt:lpstr>
      <vt:lpstr>Discovery: Identity as a confounder</vt:lpstr>
      <vt:lpstr>Consequence of Strong Identity Confounding</vt:lpstr>
      <vt:lpstr>Revised Direction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Akhtar</dc:creator>
  <cp:lastModifiedBy>Fatima Akhtar</cp:lastModifiedBy>
  <cp:revision>2</cp:revision>
  <dcterms:created xsi:type="dcterms:W3CDTF">2026-07-23T08:40:25Z</dcterms:created>
  <dcterms:modified xsi:type="dcterms:W3CDTF">2026-08-01T11:56:55Z</dcterms:modified>
</cp:coreProperties>
</file>